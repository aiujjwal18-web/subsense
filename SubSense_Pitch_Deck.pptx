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jjwal Chakrabarti" userId="300e1e31ea9071d0" providerId="LiveId" clId="{D4B03175-F12B-4BB9-AEB8-7A10C208A721}"/>
    <pc:docChg chg="undo custSel modSld">
      <pc:chgData name="Ujjwal Chakrabarti" userId="300e1e31ea9071d0" providerId="LiveId" clId="{D4B03175-F12B-4BB9-AEB8-7A10C208A721}" dt="2026-08-09T16:43:07.774" v="49" actId="20577"/>
      <pc:docMkLst>
        <pc:docMk/>
      </pc:docMkLst>
      <pc:sldChg chg="modSp mod">
        <pc:chgData name="Ujjwal Chakrabarti" userId="300e1e31ea9071d0" providerId="LiveId" clId="{D4B03175-F12B-4BB9-AEB8-7A10C208A721}" dt="2026-08-09T16:42:08.016" v="27" actId="114"/>
        <pc:sldMkLst>
          <pc:docMk/>
          <pc:sldMk cId="0" sldId="256"/>
        </pc:sldMkLst>
        <pc:spChg chg="mod">
          <ac:chgData name="Ujjwal Chakrabarti" userId="300e1e31ea9071d0" providerId="LiveId" clId="{D4B03175-F12B-4BB9-AEB8-7A10C208A721}" dt="2026-08-09T16:35:21.199" v="3" actId="207"/>
          <ac:spMkLst>
            <pc:docMk/>
            <pc:sldMk cId="0" sldId="256"/>
            <ac:spMk id="4" creationId="{00000000-0000-0000-0000-000000000000}"/>
          </ac:spMkLst>
        </pc:spChg>
        <pc:spChg chg="mod">
          <ac:chgData name="Ujjwal Chakrabarti" userId="300e1e31ea9071d0" providerId="LiveId" clId="{D4B03175-F12B-4BB9-AEB8-7A10C208A721}" dt="2026-08-09T16:42:08.016" v="27" actId="114"/>
          <ac:spMkLst>
            <pc:docMk/>
            <pc:sldMk cId="0" sldId="256"/>
            <ac:spMk id="5" creationId="{00000000-0000-0000-0000-000000000000}"/>
          </ac:spMkLst>
        </pc:spChg>
        <pc:spChg chg="mod">
          <ac:chgData name="Ujjwal Chakrabarti" userId="300e1e31ea9071d0" providerId="LiveId" clId="{D4B03175-F12B-4BB9-AEB8-7A10C208A721}" dt="2026-08-09T16:41:39.260" v="24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Ujjwal Chakrabarti" userId="300e1e31ea9071d0" providerId="LiveId" clId="{D4B03175-F12B-4BB9-AEB8-7A10C208A721}" dt="2026-08-09T16:39:33.892" v="7" actId="20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Ujjwal Chakrabarti" userId="300e1e31ea9071d0" providerId="LiveId" clId="{D4B03175-F12B-4BB9-AEB8-7A10C208A721}" dt="2026-08-09T16:43:07.774" v="49" actId="20577"/>
        <pc:sldMkLst>
          <pc:docMk/>
          <pc:sldMk cId="0" sldId="257"/>
        </pc:sldMkLst>
        <pc:spChg chg="mod">
          <ac:chgData name="Ujjwal Chakrabarti" userId="300e1e31ea9071d0" providerId="LiveId" clId="{D4B03175-F12B-4BB9-AEB8-7A10C208A721}" dt="2026-08-09T16:43:07.774" v="49" actId="20577"/>
          <ac:spMkLst>
            <pc:docMk/>
            <pc:sldMk cId="0" sldId="257"/>
            <ac:spMk id="9" creationId="{00000000-0000-0000-0000-000000000000}"/>
          </ac:spMkLst>
        </pc:spChg>
      </pc:sldChg>
      <pc:sldChg chg="modSp mod">
        <pc:chgData name="Ujjwal Chakrabarti" userId="300e1e31ea9071d0" providerId="LiveId" clId="{D4B03175-F12B-4BB9-AEB8-7A10C208A721}" dt="2026-08-09T16:42:30.929" v="31" actId="20577"/>
        <pc:sldMkLst>
          <pc:docMk/>
          <pc:sldMk cId="0" sldId="263"/>
        </pc:sldMkLst>
        <pc:spChg chg="mod">
          <ac:chgData name="Ujjwal Chakrabarti" userId="300e1e31ea9071d0" providerId="LiveId" clId="{D4B03175-F12B-4BB9-AEB8-7A10C208A721}" dt="2026-08-09T16:35:04.485" v="2" actId="207"/>
          <ac:spMkLst>
            <pc:docMk/>
            <pc:sldMk cId="0" sldId="263"/>
            <ac:spMk id="3" creationId="{00000000-0000-0000-0000-000000000000}"/>
          </ac:spMkLst>
        </pc:spChg>
        <pc:spChg chg="mod">
          <ac:chgData name="Ujjwal Chakrabarti" userId="300e1e31ea9071d0" providerId="LiveId" clId="{D4B03175-F12B-4BB9-AEB8-7A10C208A721}" dt="2026-08-09T16:42:30.929" v="31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Ujjwal Chakrabarti" userId="300e1e31ea9071d0" providerId="LiveId" clId="{D4B03175-F12B-4BB9-AEB8-7A10C208A721}" dt="2026-08-09T16:42:19.940" v="30" actId="20577"/>
          <ac:spMkLst>
            <pc:docMk/>
            <pc:sldMk cId="0" sldId="263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7656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173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SUBSCRIPTION DECISION PLATFORM</a:t>
            </a:r>
            <a:endParaRPr lang="en-US" sz="14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676" y="196596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5204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</a:t>
            </a:r>
            <a:r>
              <a:rPr lang="en-US" sz="60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endParaRPr lang="en-US" sz="6000" dirty="0">
              <a:solidFill>
                <a:schemeClr val="bg2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0" y="44348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wiser. Choose smarter</a:t>
            </a: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0" y="59893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IIT Patna  ·  August 2026 </a:t>
            </a:r>
          </a:p>
        </p:txBody>
      </p:sp>
      <p:sp>
        <p:nvSpPr>
          <p:cNvPr id="7" name="Text 4"/>
          <p:cNvSpPr/>
          <p:nvPr/>
        </p:nvSpPr>
        <p:spPr>
          <a:xfrm>
            <a:off x="0" y="6291072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Ujjwal Chakrabarti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1A1A1E"/>
          </a:solidFill>
          <a:ln w="9525">
            <a:solidFill>
              <a:srgbClr val="2A2A2E"/>
            </a:solidFill>
            <a:prstDash val="solid"/>
          </a:ln>
        </p:spPr>
      </p:sp>
      <p:pic>
        <p:nvPicPr>
          <p:cNvPr id="3" name="Image 0" descr="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7665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renew silently — awareness breaks down long before the decision is ever made.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10515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forget renewal dates and underestimate their true annual spend</a:t>
            </a:r>
            <a:endParaRPr lang="en-US" sz="16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or overlapping services go unnoticed across entertainment, productivity, and AI tools</a:t>
            </a:r>
            <a:endParaRPr lang="en-US" sz="16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subscription payments among roommates and family become difficult to track</a:t>
            </a:r>
            <a:endParaRPr lang="en-US" sz="16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decisions are delayed until after the renewal already charged</a:t>
            </a:r>
            <a:endParaRPr lang="en-US" sz="16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mostly report spending after the fact — never before it happens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598932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121212"/>
          </a:solidFill>
          <a:ln w="9525">
            <a:solidFill>
              <a:srgbClr val="2A2A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89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 : Individual 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 ·  Students &amp; professionals  ·  Shared households</a:t>
            </a:r>
            <a:endParaRPr lang="en-US" sz="1300" dirty="0"/>
          </a:p>
        </p:txBody>
      </p:sp>
      <p:pic>
        <p:nvPicPr>
          <p:cNvPr id="10" name="Image 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644652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95760" y="64465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1A1A1E"/>
          </a:solidFill>
          <a:ln w="9525">
            <a:solidFill>
              <a:srgbClr val="2A2A2E"/>
            </a:solidFill>
            <a:prstDash val="solid"/>
          </a:ln>
        </p:spPr>
      </p:sp>
      <p:pic>
        <p:nvPicPr>
          <p:cNvPr id="3" name="Image 0" descr="mi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7665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PURPOSE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&amp; Vision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349240" cy="4297680"/>
          </a:xfrm>
          <a:prstGeom prst="roundRect">
            <a:avLst>
              <a:gd name="adj" fmla="val 2979"/>
            </a:avLst>
          </a:prstGeom>
          <a:solidFill>
            <a:srgbClr val="121212"/>
          </a:solidFill>
          <a:ln w="9525">
            <a:solidFill>
              <a:srgbClr val="2A2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1945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A1A1E"/>
          </a:solidFill>
          <a:ln/>
        </p:spPr>
      </p:sp>
      <p:pic>
        <p:nvPicPr>
          <p:cNvPr id="8" name="Image 1" descr="mi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35915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68680" y="3017520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users become aware of recurring subscription spending through timely reminders, financial context, and AI-assisted decision support — while ensuring users always remain in control of renewal, cancellation, sharing, and payment decisions.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217920" y="1828800"/>
            <a:ext cx="5349240" cy="4297680"/>
          </a:xfrm>
          <a:prstGeom prst="roundRect">
            <a:avLst>
              <a:gd name="adj" fmla="val 2979"/>
            </a:avLst>
          </a:prstGeom>
          <a:solidFill>
            <a:srgbClr val="121212"/>
          </a:solidFill>
          <a:ln w="9525">
            <a:solidFill>
              <a:srgbClr val="2A2A2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537960" y="21945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A1A1E"/>
          </a:solidFill>
          <a:ln/>
        </p:spPr>
      </p:sp>
      <p:pic>
        <p:nvPicPr>
          <p:cNvPr id="13" name="Image 2" descr="vi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235915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6948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537960" y="3017520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most trusted AI-assisted subscription decision platform — helping users understand recurring spending, stay informed before renewals, and make confident subscription decisions without taking control away from them.</a:t>
            </a:r>
            <a:endParaRPr lang="en-US" sz="1600" dirty="0"/>
          </a:p>
        </p:txBody>
      </p:sp>
      <p:pic>
        <p:nvPicPr>
          <p:cNvPr id="16" name="Image 3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5720" y="644652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795760" y="64465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1A1A1E"/>
          </a:solidFill>
          <a:ln w="9525">
            <a:solidFill>
              <a:srgbClr val="2A2A2E"/>
            </a:solidFill>
            <a:prstDash val="solid"/>
          </a:ln>
        </p:spPr>
      </p:sp>
      <p:pic>
        <p:nvPicPr>
          <p:cNvPr id="3" name="Image 0" descr="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7665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WHAT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Building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746504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A1A1E"/>
          </a:solidFill>
          <a:ln/>
        </p:spPr>
      </p:sp>
      <p:pic>
        <p:nvPicPr>
          <p:cNvPr id="7" name="Image 1" descr="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1901952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691640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awareness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297680" y="1691640"/>
            <a:ext cx="7315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catalog, custom entry, multi-currency tracking with full add / edit / archive lifecycle.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264261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A1A1E"/>
          </a:solidFill>
          <a:ln/>
        </p:spPr>
      </p:sp>
      <p:pic>
        <p:nvPicPr>
          <p:cNvPr id="11" name="Image 2" descr="be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2798064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2587752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 &amp; retention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297680" y="2587752"/>
            <a:ext cx="7315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Upcoming-renewal visibility, 8 reminder types delivered by email, and post-renewal check-ins.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353872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A1A1E"/>
          </a:solidFill>
          <a:ln/>
        </p:spPr>
      </p:sp>
      <p:pic>
        <p:nvPicPr>
          <p:cNvPr id="15" name="Image 3" descr="doll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3694176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3483864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clarity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4297680" y="3483864"/>
            <a:ext cx="7315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/ annual cost equivalence and recurring-spend insight, unified in one Decision Workspace.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548640" y="44348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A1A1E"/>
          </a:solidFill>
          <a:ln/>
        </p:spPr>
      </p:sp>
      <p:pic>
        <p:nvPicPr>
          <p:cNvPr id="19" name="Image 4" descr="cp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" y="4590288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25880" y="4379976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decisions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4297680" y="4379976"/>
            <a:ext cx="7315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Contextual, explainable AI insight delivered before every renewal — never auto-executing.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548640" y="533095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A1A1E"/>
          </a:solidFill>
          <a:ln/>
        </p:spPr>
      </p:sp>
      <p:pic>
        <p:nvPicPr>
          <p:cNvPr id="23" name="Image 5" descr="us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" y="5486400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325880" y="5276088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&amp; collaborative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4297680" y="5276088"/>
            <a:ext cx="7315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Split-cost tracking, payment status, and reminders built for roommates, couples, and families.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548640" y="6217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includes a non-production Razorpay Test Mode premium demonstration layer.</a:t>
            </a:r>
            <a:endParaRPr lang="en-US" sz="1150" dirty="0"/>
          </a:p>
        </p:txBody>
      </p:sp>
      <p:pic>
        <p:nvPicPr>
          <p:cNvPr id="27" name="Image 6" descr="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75720" y="6446520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1795760" y="64465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1A1A1E"/>
          </a:solidFill>
          <a:ln w="9525">
            <a:solidFill>
              <a:srgbClr val="2A2A2E"/>
            </a:solidFill>
            <a:prstDash val="solid"/>
          </a:ln>
        </p:spPr>
      </p:sp>
      <p:pic>
        <p:nvPicPr>
          <p:cNvPr id="3" name="Image 0" descr="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7665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1188720"/>
          </a:xfrm>
          <a:prstGeom prst="roundRect">
            <a:avLst>
              <a:gd name="adj" fmla="val 10769"/>
            </a:avLst>
          </a:prstGeom>
          <a:solidFill>
            <a:srgbClr val="121212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847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NORTH STAR METRIC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14400" y="2103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rate ≥ 80%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492240" y="2148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accounts adding one subscription within their first session.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121212"/>
          </a:solidFill>
          <a:ln w="9525">
            <a:solidFill>
              <a:srgbClr val="2A2A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340156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99%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868680" y="4114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delivery success rate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245352" y="320040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121212"/>
          </a:solidFill>
          <a:ln w="9525">
            <a:solidFill>
              <a:srgbClr val="2A2A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65392" y="340156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95%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6565392" y="4114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 generation success rate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5102352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121212"/>
          </a:solidFill>
          <a:ln w="9525">
            <a:solidFill>
              <a:srgbClr val="2A2A2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53035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868680" y="60167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payment completion within 14 days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45352" y="5102352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121212"/>
          </a:solidFill>
          <a:ln w="9525">
            <a:solidFill>
              <a:srgbClr val="2A2A2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65392" y="53035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40%</a:t>
            </a: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6565392" y="60167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 retention rate</a:t>
            </a:r>
            <a:endParaRPr lang="en-US" sz="1350" dirty="0"/>
          </a:p>
        </p:txBody>
      </p:sp>
      <p:pic>
        <p:nvPicPr>
          <p:cNvPr id="22" name="Image 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6446520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795760" y="64465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1A1A1E"/>
          </a:solidFill>
          <a:ln w="9525">
            <a:solidFill>
              <a:srgbClr val="2A2A2E"/>
            </a:solidFill>
            <a:prstDash val="solid"/>
          </a:ln>
        </p:spPr>
      </p:sp>
      <p:pic>
        <p:nvPicPr>
          <p:cNvPr id="3" name="Image 0" descr="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7665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Built. Shipped. Live.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121212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8745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15/15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96012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SHIPPED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06240" y="2057400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MVP scope complete — live in production.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deployment via Vercel + GitHub Actions since Phase 6.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STACK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4160520"/>
            <a:ext cx="1316736" cy="1417320"/>
          </a:xfrm>
          <a:prstGeom prst="roundRect">
            <a:avLst>
              <a:gd name="adj" fmla="val 8333"/>
            </a:avLst>
          </a:prstGeom>
          <a:solidFill>
            <a:srgbClr val="121212"/>
          </a:solidFill>
          <a:ln w="9525">
            <a:solidFill>
              <a:srgbClr val="2A2A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4361688"/>
            <a:ext cx="585216" cy="457200"/>
          </a:xfrm>
          <a:prstGeom prst="roundRect">
            <a:avLst>
              <a:gd name="adj" fmla="val 20000"/>
            </a:avLst>
          </a:prstGeom>
          <a:solidFill>
            <a:srgbClr val="1A1A1E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361688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94360" y="4937760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997964" y="4160520"/>
            <a:ext cx="1316736" cy="1417320"/>
          </a:xfrm>
          <a:prstGeom prst="roundRect">
            <a:avLst>
              <a:gd name="adj" fmla="val 8333"/>
            </a:avLst>
          </a:prstGeom>
          <a:solidFill>
            <a:srgbClr val="121212"/>
          </a:solidFill>
          <a:ln w="9525">
            <a:solidFill>
              <a:srgbClr val="2A2A2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363724" y="4361688"/>
            <a:ext cx="585216" cy="457200"/>
          </a:xfrm>
          <a:prstGeom prst="roundRect">
            <a:avLst>
              <a:gd name="adj" fmla="val 20000"/>
            </a:avLst>
          </a:prstGeom>
          <a:solidFill>
            <a:srgbClr val="1A1A1E"/>
          </a:solidFill>
          <a:ln/>
        </p:spPr>
      </p:sp>
      <p:sp>
        <p:nvSpPr>
          <p:cNvPr id="17" name="Text 14"/>
          <p:cNvSpPr/>
          <p:nvPr/>
        </p:nvSpPr>
        <p:spPr>
          <a:xfrm>
            <a:off x="2363724" y="4361688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043684" y="4937760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447288" y="4160520"/>
            <a:ext cx="1316736" cy="1417320"/>
          </a:xfrm>
          <a:prstGeom prst="roundRect">
            <a:avLst>
              <a:gd name="adj" fmla="val 8333"/>
            </a:avLst>
          </a:prstGeom>
          <a:solidFill>
            <a:srgbClr val="121212"/>
          </a:solidFill>
          <a:ln w="9525">
            <a:solidFill>
              <a:srgbClr val="2A2A2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813048" y="4361688"/>
            <a:ext cx="585216" cy="457200"/>
          </a:xfrm>
          <a:prstGeom prst="roundRect">
            <a:avLst>
              <a:gd name="adj" fmla="val 20000"/>
            </a:avLst>
          </a:prstGeom>
          <a:solidFill>
            <a:srgbClr val="1A1A1E"/>
          </a:solidFill>
          <a:ln/>
        </p:spPr>
      </p:sp>
      <p:sp>
        <p:nvSpPr>
          <p:cNvPr id="21" name="Text 18"/>
          <p:cNvSpPr/>
          <p:nvPr/>
        </p:nvSpPr>
        <p:spPr>
          <a:xfrm>
            <a:off x="3813048" y="4361688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493008" y="4937760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96612" y="4160520"/>
            <a:ext cx="1316736" cy="1417320"/>
          </a:xfrm>
          <a:prstGeom prst="roundRect">
            <a:avLst>
              <a:gd name="adj" fmla="val 8333"/>
            </a:avLst>
          </a:prstGeom>
          <a:solidFill>
            <a:srgbClr val="121212"/>
          </a:solidFill>
          <a:ln w="9525">
            <a:solidFill>
              <a:srgbClr val="2A2A2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262372" y="4361688"/>
            <a:ext cx="585216" cy="457200"/>
          </a:xfrm>
          <a:prstGeom prst="roundRect">
            <a:avLst>
              <a:gd name="adj" fmla="val 20000"/>
            </a:avLst>
          </a:prstGeom>
          <a:solidFill>
            <a:srgbClr val="1A1A1E"/>
          </a:solidFill>
          <a:ln/>
        </p:spPr>
      </p:sp>
      <p:sp>
        <p:nvSpPr>
          <p:cNvPr id="25" name="Text 22"/>
          <p:cNvSpPr/>
          <p:nvPr/>
        </p:nvSpPr>
        <p:spPr>
          <a:xfrm>
            <a:off x="5262372" y="4361688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4942332" y="4937760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345936" y="4160520"/>
            <a:ext cx="1316736" cy="1417320"/>
          </a:xfrm>
          <a:prstGeom prst="roundRect">
            <a:avLst>
              <a:gd name="adj" fmla="val 8333"/>
            </a:avLst>
          </a:prstGeom>
          <a:solidFill>
            <a:srgbClr val="121212"/>
          </a:solidFill>
          <a:ln w="9525">
            <a:solidFill>
              <a:srgbClr val="2A2A2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11696" y="4361688"/>
            <a:ext cx="585216" cy="457200"/>
          </a:xfrm>
          <a:prstGeom prst="roundRect">
            <a:avLst>
              <a:gd name="adj" fmla="val 20000"/>
            </a:avLst>
          </a:prstGeom>
          <a:solidFill>
            <a:srgbClr val="1A1A1E"/>
          </a:solidFill>
          <a:ln/>
        </p:spPr>
      </p:sp>
      <p:sp>
        <p:nvSpPr>
          <p:cNvPr id="29" name="Text 26"/>
          <p:cNvSpPr/>
          <p:nvPr/>
        </p:nvSpPr>
        <p:spPr>
          <a:xfrm>
            <a:off x="6711696" y="4361688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391656" y="4937760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795260" y="4160520"/>
            <a:ext cx="1316736" cy="1417320"/>
          </a:xfrm>
          <a:prstGeom prst="roundRect">
            <a:avLst>
              <a:gd name="adj" fmla="val 8333"/>
            </a:avLst>
          </a:prstGeom>
          <a:solidFill>
            <a:srgbClr val="121212"/>
          </a:solidFill>
          <a:ln w="9525">
            <a:solidFill>
              <a:srgbClr val="2A2A2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161020" y="4361688"/>
            <a:ext cx="585216" cy="457200"/>
          </a:xfrm>
          <a:prstGeom prst="roundRect">
            <a:avLst>
              <a:gd name="adj" fmla="val 20000"/>
            </a:avLst>
          </a:prstGeom>
          <a:solidFill>
            <a:srgbClr val="1A1A1E"/>
          </a:solidFill>
          <a:ln/>
        </p:spPr>
      </p:sp>
      <p:sp>
        <p:nvSpPr>
          <p:cNvPr id="33" name="Text 30"/>
          <p:cNvSpPr/>
          <p:nvPr/>
        </p:nvSpPr>
        <p:spPr>
          <a:xfrm>
            <a:off x="8161020" y="4361688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7840980" y="4937760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9244584" y="4160520"/>
            <a:ext cx="1316736" cy="1417320"/>
          </a:xfrm>
          <a:prstGeom prst="roundRect">
            <a:avLst>
              <a:gd name="adj" fmla="val 8333"/>
            </a:avLst>
          </a:prstGeom>
          <a:solidFill>
            <a:srgbClr val="121212"/>
          </a:solidFill>
          <a:ln w="9525">
            <a:solidFill>
              <a:srgbClr val="2A2A2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610344" y="4361688"/>
            <a:ext cx="585216" cy="457200"/>
          </a:xfrm>
          <a:prstGeom prst="roundRect">
            <a:avLst>
              <a:gd name="adj" fmla="val 20000"/>
            </a:avLst>
          </a:prstGeom>
          <a:solidFill>
            <a:srgbClr val="1A1A1E"/>
          </a:solidFill>
          <a:ln/>
        </p:spPr>
      </p:sp>
      <p:sp>
        <p:nvSpPr>
          <p:cNvPr id="37" name="Text 34"/>
          <p:cNvSpPr/>
          <p:nvPr/>
        </p:nvSpPr>
        <p:spPr>
          <a:xfrm>
            <a:off x="9610344" y="4361688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9290304" y="4937760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0693908" y="4160520"/>
            <a:ext cx="1316736" cy="1417320"/>
          </a:xfrm>
          <a:prstGeom prst="roundRect">
            <a:avLst>
              <a:gd name="adj" fmla="val 8333"/>
            </a:avLst>
          </a:prstGeom>
          <a:solidFill>
            <a:srgbClr val="121212"/>
          </a:solidFill>
          <a:ln w="9525">
            <a:solidFill>
              <a:srgbClr val="2A2A2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1059668" y="4361688"/>
            <a:ext cx="585216" cy="457200"/>
          </a:xfrm>
          <a:prstGeom prst="roundRect">
            <a:avLst>
              <a:gd name="adj" fmla="val 20000"/>
            </a:avLst>
          </a:prstGeom>
          <a:solidFill>
            <a:srgbClr val="1A1A1E"/>
          </a:solidFill>
          <a:ln/>
        </p:spPr>
      </p:sp>
      <p:sp>
        <p:nvSpPr>
          <p:cNvPr id="41" name="Text 38"/>
          <p:cNvSpPr/>
          <p:nvPr/>
        </p:nvSpPr>
        <p:spPr>
          <a:xfrm>
            <a:off x="11059668" y="4361688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10739628" y="4937760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</a:t>
            </a:r>
            <a:endParaRPr lang="en-US" sz="1100" dirty="0"/>
          </a:p>
        </p:txBody>
      </p:sp>
      <p:pic>
        <p:nvPicPr>
          <p:cNvPr id="43" name="Image 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6446520"/>
            <a:ext cx="256032" cy="256032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11795760" y="64465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1A1A1E"/>
          </a:solidFill>
          <a:ln w="9525">
            <a:solidFill>
              <a:srgbClr val="2A2A2E"/>
            </a:solidFill>
            <a:prstDash val="solid"/>
          </a:ln>
        </p:spPr>
      </p:sp>
      <p:pic>
        <p:nvPicPr>
          <p:cNvPr id="3" name="Image 0" descr="guardra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7665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HONEST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349240" cy="4434840"/>
          </a:xfrm>
          <a:prstGeom prst="roundRect">
            <a:avLst>
              <a:gd name="adj" fmla="val 2887"/>
            </a:avLst>
          </a:prstGeom>
          <a:solidFill>
            <a:srgbClr val="121212"/>
          </a:solidFill>
          <a:ln w="9525">
            <a:solidFill>
              <a:srgbClr val="2A2A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RISKS, MITIGATED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560320"/>
            <a:ext cx="4800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overreach — recommendations are explained, never auto-executed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mistakes — owner / member / admin access paths tested directly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expansion — held to MVP discipline with explicit change control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confusion — Razorpay labeled Test Mode everywhere, always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349240" cy="4434840"/>
          </a:xfrm>
          <a:prstGeom prst="roundRect">
            <a:avLst>
              <a:gd name="adj" fmla="val 2887"/>
            </a:avLst>
          </a:prstGeom>
          <a:solidFill>
            <a:srgbClr val="121212"/>
          </a:solidFill>
          <a:ln w="9525">
            <a:solidFill>
              <a:srgbClr val="2A2A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3796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OUT OF SCOPE (V1)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37960" y="2560320"/>
            <a:ext cx="4800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✕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bank account or email scanning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✕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/ Google native subscription sync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✕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third-party cancellation execution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✕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billing — live Razorpay payments</a:t>
            </a:r>
            <a:endParaRPr lang="en-US" sz="1450" dirty="0"/>
          </a:p>
        </p:txBody>
      </p:sp>
      <p:pic>
        <p:nvPicPr>
          <p:cNvPr id="12" name="Image 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644652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795760" y="64465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556" y="173736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8036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 err="1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</a:t>
            </a:r>
            <a:r>
              <a:rPr lang="en-US" sz="4000" b="1" dirty="0" err="1">
                <a:solidFill>
                  <a:schemeClr val="bg2"/>
                </a:solidFill>
                <a:latin typeface="Arial" pitchFamily="34" charset="0"/>
                <a:cs typeface="Arial" pitchFamily="34" charset="-120"/>
              </a:rPr>
              <a:t>Sense</a:t>
            </a:r>
            <a:endParaRPr lang="en-US" sz="4000" b="1" dirty="0">
              <a:solidFill>
                <a:schemeClr val="bg2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0" y="352044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wiser. Choose smarter.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429768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983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subsense.co.in</a:t>
            </a:r>
            <a:endParaRPr lang="en-US" sz="125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504</Words>
  <Application>Microsoft Office PowerPoint</Application>
  <PresentationFormat>Widescreen</PresentationFormat>
  <Paragraphs>99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Ujjwal Chakrabarti</cp:lastModifiedBy>
  <cp:revision>1</cp:revision>
  <dcterms:created xsi:type="dcterms:W3CDTF">2026-08-09T16:29:16Z</dcterms:created>
  <dcterms:modified xsi:type="dcterms:W3CDTF">2026-08-09T16:43:09Z</dcterms:modified>
</cp:coreProperties>
</file>